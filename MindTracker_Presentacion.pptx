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C1C1E"/>
                </a:solidFill>
                <a:latin typeface="Helvetica Neue"/>
              </a:rPr>
              <a:t>MindTracker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6E73"/>
                </a:solidFill>
                <a:latin typeface="Helvetica Neue"/>
              </a:rPr>
              <a:t>Aplicación web de seguimiento emocional y hábitos diarios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977639"/>
            <a:ext cx="5486400" cy="914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Helvetica Neue"/>
              </a:rPr>
              <a:t>Proyecto Integrado  ·  DAW 2º Curso  · 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5303520"/>
            <a:ext cx="164592" cy="164592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80" y="5303520"/>
            <a:ext cx="164592" cy="164592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0" y="5303520"/>
            <a:ext cx="164592" cy="164592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C1E"/>
                </a:solidFill>
                <a:latin typeface="Helvetica Neue"/>
              </a:rPr>
              <a:t>Contenido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Motivación y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Objetivos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Stack tecnológico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03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Arquitectura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Base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57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Backend · 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371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Frontend · React SPA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488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Funcionalidades clave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26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703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Despliegue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80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Pruebas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57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6E49"/>
                </a:solidFill>
                <a:latin typeface="Helvetica Neue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257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Conclusiones y trabajo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01  Motivación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Helvetica Neue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Las apps comerciales de bienestar (Daylio, Bearable…) exigen suscripciones de pago, almacenan datos personales sensibles en la nube de terceros y limitan la personalización del usuario. No existe una alternativa libre, autohospedada y de código abierto con una experiencia de usuario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Helvetica Neue"/>
              </a:rPr>
              <a:t>La oportunidad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E"/>
                </a:solidFill>
                <a:latin typeface="Helvetica Neue"/>
              </a:rPr>
              <a:t>Construir una herramienta propia que devolviese el control de los datos al usuario, utilizando tecnologías del currículo DAW — Node.js, React, MariaDB y Apache — en un entorno de despliegue real sobre Ubuntu 22.04.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02  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6E49"/>
                </a:solidFill>
                <a:latin typeface="Helvetica Neue"/>
              </a:rP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E"/>
                </a:solidFill>
                <a:latin typeface="Helvetica Neue"/>
              </a:rPr>
              <a:t>Desarrollar una aplicación web full-stack funcional, segura y desplegable en producción para el registro y seguimiento de estados emocionales y hábitos diarios.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0604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Objetivos específicos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310128"/>
            <a:ext cx="109728" cy="109728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00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Implementar autenticación segura con JWT en cookies HttpOnly y contraseñas hasheadas con bcrypt.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877056"/>
            <a:ext cx="109728" cy="109728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673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Diseñar e implementar una API REST completa con Express.js sobre una base de datos MariaDB normalizada.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4443984"/>
            <a:ext cx="109728" cy="109728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33425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Desarrollar una SPA con React 18 que ofrezca una UX fluida con registro de estado de ánimo y hábitos.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010912"/>
            <a:ext cx="109728" cy="109728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01183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Desplegar el sistema completo en Ubuntu 22.04 con Apache como proxy inverso y SSL/TLS.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577840"/>
            <a:ext cx="109728" cy="109728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4681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Cubrir los 5 módulos del ciclo (Servidor, Cliente, BBDD, Despliegue, Sistemas) en un proyecto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03  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5029200" cy="21945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502920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48840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React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496312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505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React Router v6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843784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79806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191256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455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CSS + FontAwesome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63040"/>
            <a:ext cx="5029200" cy="21945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463040"/>
            <a:ext cx="502920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48840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103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Node.js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496312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4505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Express.js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843784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79806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JWT (jsonwebtoken)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191256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1455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bcrypt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023360"/>
            <a:ext cx="5029200" cy="21945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4023360"/>
            <a:ext cx="502920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Base de datos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4709160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663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MariaDB 10.6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5056632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0109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mysql2 connector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5404104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3583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Pool de conexiones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023360"/>
            <a:ext cx="5029200" cy="21945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4023360"/>
            <a:ext cx="502920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Infraestructura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4709160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663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Apache 2.4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5056632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50109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Ubuntu 22.04 (WSL2)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5404104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53583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mod_ssl / HTTPS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5751576"/>
            <a:ext cx="64008" cy="64008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7058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C1E"/>
                </a:solidFill>
                <a:latin typeface="Helvetica Neue"/>
              </a:rPr>
              <a:t>systemd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04  Arquitectura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508760"/>
            <a:ext cx="10058400" cy="9144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Capa de 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  <a:latin typeface="Helvetica Neue"/>
              </a:rPr>
              <a:t>React SPA · client-side routing · componentes reutilizables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97480"/>
            <a:ext cx="10058400" cy="91440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70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Proxy Inverso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54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  <a:latin typeface="Helvetica Neue"/>
              </a:rPr>
              <a:t>Apache 2.4 · rutas /api/* → Node.js · archivos estáticos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886200"/>
            <a:ext cx="10058400" cy="914400"/>
          </a:xfrm>
          <a:prstGeom prst="rect">
            <a:avLst/>
          </a:prstGeom>
          <a:solidFill>
            <a:srgbClr val="74B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59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Capa de Aplicación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434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  <a:latin typeface="Helvetica Neue"/>
              </a:rPr>
              <a:t>Express.js API · MVC · Middleware JWT · 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solidFill>
            <a:srgbClr val="A2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48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</a:rPr>
              <a:t>Capa de Persistencia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  <a:latin typeface="Helvetica Neue"/>
              </a:rPr>
              <a:t>MariaDB · 5 tablas normalizadas · foreign keys · connection pool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05 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17320"/>
            <a:ext cx="2011680" cy="43891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8562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9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id (PK)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313432"/>
            <a:ext cx="201168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86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name, last_name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706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43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email (UNIQUE)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227832"/>
            <a:ext cx="201168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6850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581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password (bcrypt)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417320"/>
            <a:ext cx="2011680" cy="43891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463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moods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8562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1929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id (PK)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313432"/>
            <a:ext cx="201168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2386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user_id (FK→users)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7706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843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value 1-10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227832"/>
            <a:ext cx="201168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notes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6850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37581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417320"/>
            <a:ext cx="2011680" cy="43891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1463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habits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18562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9" y="1929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id (PK)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313432"/>
            <a:ext cx="201168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9" y="2386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name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770632"/>
            <a:ext cx="201168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79" y="2843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icon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8040" y="1417320"/>
            <a:ext cx="2286000" cy="43891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79" y="14630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habit_options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1856232"/>
            <a:ext cx="228600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79" y="19293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id (PK)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2313432"/>
            <a:ext cx="228600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79" y="23865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habit_id (FK)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2770632"/>
            <a:ext cx="228600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79" y="28437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label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3227832"/>
            <a:ext cx="228600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79" y="33009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sort_order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1417320"/>
            <a:ext cx="3108960" cy="438912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1463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habit_logs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1856232"/>
            <a:ext cx="310896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19293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id (PK)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760" y="2313432"/>
            <a:ext cx="310896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23865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user_id (FK)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2770632"/>
            <a:ext cx="310896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0" y="28437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habit_id (FK)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227832"/>
            <a:ext cx="3108960" cy="4572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33009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option_id (FK)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760" y="3685032"/>
            <a:ext cx="3108960" cy="4572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7581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date · UNIQUE(user,habit,date)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73"/>
                </a:solidFill>
                <a:latin typeface="Helvetica Neue"/>
              </a:rPr>
              <a:t>Restricciones: FK con ON DELETE CASCADE · UNIQUE(user_id, habit_id, date) en habit_logs · email UNIQUE en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06  Backend · API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Endpoints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5D8E"/>
                </a:solidFill>
                <a:latin typeface="Helvetica Neue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288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/auth/register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Registro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5D8E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219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219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Login · emite JWT en cookie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151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5D8E"/>
                </a:solidFill>
                <a:latin typeface="Helvetica Neue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6151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/auth/logout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151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Logout · limpia cookie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0837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0837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08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Usuario autenticado actual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0156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5D8E"/>
                </a:solidFill>
                <a:latin typeface="Helvetica Neue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4015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/api/users/moods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01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Crear entrada de estado de ánimo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9476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794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/api/users/logs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Historial de ánimo + hábitos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879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6E1A"/>
                </a:solidFill>
                <a:latin typeface="Helvetica Neue"/>
              </a:rPr>
              <a:t>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187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/api/users/moods/:id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187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Actualizar entrada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8114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E2727"/>
                </a:solidFill>
                <a:latin typeface="Helvetica Neue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5811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/api/users/moods/:id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581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Eliminar entrada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7433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9743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/api/habits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9743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Catálogo de hábitos con opciones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675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5D8E"/>
                </a:solidFill>
                <a:latin typeface="Helvetica Neue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367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/api/habits/logs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367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Registrar hábito (upsert)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607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760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E"/>
                </a:solidFill>
                <a:latin typeface="Helvetica Neue"/>
              </a:rPr>
              <a:t>/api/habits/logs/date/:d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760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Helvetica Neue"/>
              </a:rPr>
              <a:t>Hábitos de una fecha específica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Patrón MVC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828800"/>
            <a:ext cx="3840480" cy="86868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28800"/>
            <a:ext cx="73152" cy="86868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Helvetica Neue"/>
              </a:rPr>
              <a:t>Routes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249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Helvetica Neue"/>
              </a:rPr>
              <a:t>Definición de endpoints y vinculación con controladores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834640"/>
            <a:ext cx="3840480" cy="86868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2834640"/>
            <a:ext cx="73152" cy="86868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79" y="2880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Helvetica Neue"/>
              </a:rPr>
              <a:t>Controllers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2552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Helvetica Neue"/>
              </a:rPr>
              <a:t>Lógica de negocio, validaciones, respuesta HTTP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840480"/>
            <a:ext cx="3840480" cy="86868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3840480"/>
            <a:ext cx="73152" cy="86868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Helvetica Neue"/>
              </a:rPr>
              <a:t>Models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2611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Helvetica Neue"/>
              </a:rPr>
              <a:t>Queries parametrizadas a MariaDB · pool de conexiones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846320"/>
            <a:ext cx="3840480" cy="86868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4846320"/>
            <a:ext cx="73152" cy="86868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4892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1C1E"/>
                </a:solidFill>
                <a:latin typeface="Helvetica Neue"/>
              </a:rPr>
              <a:t>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2669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6E73"/>
                </a:solidFill>
                <a:latin typeface="Helvetica Neue"/>
              </a:rPr>
              <a:t>Verificación JWT · protección de rutas privadas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07  Frontend · React SPA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Árbol de 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App.jsx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Routing principal · ProtectedRoute / PublicRoute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0428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04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Login.jsx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0428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Formularios de acceso y registro con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25496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254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Dashboard.jsx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254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Shell principal con AppHeader y vistas dinámicas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346704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467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E"/>
                </a:solidFill>
                <a:latin typeface="Helvetica Neue"/>
              </a:rPr>
              <a:t>EntradaView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4670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Formulario de estado de ánimo + panel de hábitos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3867911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86791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E"/>
                </a:solidFill>
                <a:latin typeface="Helvetica Neue"/>
              </a:rPr>
              <a:t>MoodForm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67911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Grid 1–10 · notas · selector de fecha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43891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389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E"/>
                </a:solidFill>
                <a:latin typeface="Helvetica Neue"/>
              </a:rPr>
              <a:t>HabitsPanel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389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5 hábitos · opciones dinámicas · guardado inmediato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91032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910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E"/>
                </a:solidFill>
                <a:latin typeface="Helvetica Neue"/>
              </a:rPr>
              <a:t>RegistrosView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1032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Historial cronológico · eliminación · tags de hábitos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431536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1D1"/>
                </a:solidFill>
                <a:latin typeface="Helvetica Neue"/>
              </a:rPr>
              <a:t>└─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315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C1E"/>
                </a:solidFill>
                <a:latin typeface="Helvetica Neue"/>
              </a:rPr>
              <a:t>PerfilView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4315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Helvetica Neue"/>
              </a:rPr>
              <a:t>Edición de perfil · cambio de contraseña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9436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73"/>
                </a:solidFill>
                <a:latin typeface="Helvetica Neue"/>
              </a:rPr>
              <a:t>Decisiones de diseño:  SPA con React Router · Estado local (useState/useEffect) · Fetch API con credentials · Rutas protegidas por cookie HttpOnly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08  Funcionalidades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3566160" cy="49377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356616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72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Estado de ánimo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03120"/>
            <a:ext cx="320040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37744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2860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Escala 1-10 como grid de botones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33756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2461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Notas de texto libre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297679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2062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Selector de fecha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25780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5166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CRUD completo sobre cada entrada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1463040"/>
            <a:ext cx="3566160" cy="49377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79" y="1463040"/>
            <a:ext cx="356616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572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Seguimiento de hábitos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59" y="2103120"/>
            <a:ext cx="320040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59" y="237744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22860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5 hábitos predefinidos (sueño, ejercicio,
lectura, estudio, dieta)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333756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7" y="32461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Opciones múltiples por hábito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59" y="4297679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7" y="42062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Guardado inmediato (sin botón extra)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525780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7" y="5166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Upsert: un registro por hábito/día/usuario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19" y="1463040"/>
            <a:ext cx="3566160" cy="493776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19" y="1463040"/>
            <a:ext cx="3566160" cy="5486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799" y="1572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Historial y perfil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799" y="2103120"/>
            <a:ext cx="320040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799" y="237744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7" y="228600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Vista cronológica con tags de hábitos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799" y="333756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7" y="32461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Eliminación de entradas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799" y="4297679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7" y="420624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Edición de nombre, apellidos y teléfono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799" y="5257800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7967" y="516636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Cambio de contraseña con verificación actual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09 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46304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JWT en cookies HttpOnly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01168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El token no es accesible desde JavaScript, eliminando el riesgo de robo mediante XSS.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7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Hashing con bcrypt (10 rounds)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7" y="201168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Las contraseñas nunca se almacenan en texto plano. El factor de coste protege contra fuerza bruta.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01752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01752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Queries parametrizadas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56616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Todas las consultas a MariaDB usan placeholders — inmunidad total a SQL Injection.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01752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301752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3108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Cabeceras HTTP de 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356616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Apache añade X-Frame-Options, X-Content-Type-Options y X-XSS-Protection a todas las respuestas.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57200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57200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CORS restringido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12064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El backend solo acepta peticiones del origen configurado, bloqueando CSRF cross-origin.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120640" cy="1371600"/>
          </a:xfrm>
          <a:prstGeom prst="rect">
            <a:avLst/>
          </a:prstGeom>
          <a:solidFill>
            <a:srgbClr val="E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572000"/>
            <a:ext cx="73152" cy="13716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SSL/TLS en producción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7" y="5120640"/>
            <a:ext cx="4754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Comunicación cifrada end-to-end con certificado servido desde Apache mod_ssl.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10 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36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Ubuntu 22.04 (WSL2)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Entorno de servidor real con acceso root y gestión de servicios con systemd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3619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36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MariaDB 10.6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Base de datos instalada y configurada con usuario dedicado y schema MindTracker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09067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Node.js 20 +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20439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Servidor Express corriendo como servicio con PM2/systemd en el puerto 2345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09067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Build React (Vite)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520439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Compilación del frontend con 'vite build' generando el directorio dist/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64515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45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Apache + SSL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74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Proxy inverso con VirtualHost: /api/* → Node.js, /* → archivos estáticos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645152"/>
            <a:ext cx="457200" cy="4572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45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E"/>
                </a:solidFill>
                <a:latin typeface="Helvetica Neue"/>
              </a:rPr>
              <a:t>Variables de entorno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074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.env con JWT_SECRET, DB_PASS, ORIGIN — nunca en control de versiones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11  Pruebas funcionales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6E49"/>
                </a:solidFill>
                <a:latin typeface="Helvetica Neue"/>
              </a:rPr>
              <a:t>25 tests de integración automatizados · todos superados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Registro de usuario → 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Email duplicado → 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Registro sin campos →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971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Login correcto → cookie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918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91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Contraseña incorrecta →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118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611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Usuario no existe → 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118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31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319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Login sin contraseña → 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319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519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2519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/api/me sin token → 401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51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72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572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/api/me con sesión → 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720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920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92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Logout · limpia cookie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212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212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/api/users/logs sin token → 401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321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532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POST /api/users/moods sin token → 401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321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85215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85215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/api/habits sin token → 401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85215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0116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0116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/api/habits → catálogo con opciones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0" y="20116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3317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3317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POST moods → entrada creada 201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0" y="23317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6517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26517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logs → historial del usuario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0" y="26517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29718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2971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POST moods sin campos → 400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0" y="2971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32918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291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DELETE mood propio → 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0" y="32918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36118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611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DELETE mood inexistente → 404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0" y="36118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9319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39319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POST habits/logs → hábito registrado 201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0" y="39319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42519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42519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Upsert: mismo hábito mismo día → 201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0" y="42519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4572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4572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habits/logs/date → hábitos del día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887200" y="45720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489204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4892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POST habits/logs sin campos → 400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887200" y="48920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52120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5212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GET /api/users/profile → 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887200" y="52120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2240" y="55321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C6E49"/>
                </a:solidFill>
                <a:latin typeface="Helvetica Neue"/>
              </a:rPr>
              <a:t>T-25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532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1C1E"/>
                </a:solidFill>
                <a:latin typeface="Helvetica Neue"/>
              </a:rPr>
              <a:t>PUT /api/users/profile → datos actualizados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87200" y="55321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C6E49"/>
                </a:solidFill>
                <a:latin typeface="Helvetica Neue"/>
              </a:rPr>
              <a:t>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Helvetica Neue"/>
              </a:rPr>
              <a:t>12  Conclusiones y 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14300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Logros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74519"/>
            <a:ext cx="91440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783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Se ha desarrollado y desplegado con éxito una aplicación web full-stack funcional y segura.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77440"/>
            <a:ext cx="91440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286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Los 5 módulos del ciclo DAW quedan integrados de forma coherente en un único proyecto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880360"/>
            <a:ext cx="91440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788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El sistema implementa las mejores prácticas de seguridad web: JWT, bcrypt, parameterized queries y HTTPS.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83280"/>
            <a:ext cx="91440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91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La arquitectura en tres capas facilita el mantenimiento y la escalabilidad futura.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86200"/>
            <a:ext cx="91440" cy="9144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1E"/>
                </a:solidFill>
                <a:latin typeface="Helvetica Neue"/>
              </a:rPr>
              <a:t>Los 25 tests de integración automatizados validan todos los endpoints de la API y los flujos críticos.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480560"/>
            <a:ext cx="9784080" cy="9144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C1E"/>
                </a:solidFill>
                <a:latin typeface="Helvetica Neue"/>
              </a:rPr>
              <a:t>Trabajo futuro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166359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07492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Gráficas y tendencias: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74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Visualización de evolución del estado de ánimo con Chart.js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5166359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07492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Hábitos personalizables: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074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CRUD de hábitos y opciones definidos por el usuario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733288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64184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Aplicación móvil: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418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PWA o app nativa con React Native para registro rápido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733288"/>
            <a:ext cx="91440" cy="91440"/>
          </a:xfrm>
          <a:prstGeom prst="rect">
            <a:avLst/>
          </a:prstGeom>
          <a:solidFill>
            <a:srgbClr val="5BB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64184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1C1E"/>
                </a:solidFill>
                <a:latin typeface="Helvetica Neue"/>
              </a:rPr>
              <a:t>Notificaciones: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6418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Helvetica Neue"/>
              </a:rPr>
              <a:t>Recordatorios diarios vía email o push notification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C1C1E"/>
                </a:solidFill>
                <a:latin typeface="Helvetica Neue"/>
              </a:rPr>
              <a:t>Gracias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91840"/>
            <a:ext cx="5760720" cy="9144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6E73"/>
                </a:solidFill>
                <a:latin typeface="Helvetica Neue"/>
              </a:rPr>
              <a:t>MindTracker · Proyecto Integrado DAW ·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1C1E"/>
                </a:solidFill>
                <a:latin typeface="Helvetica Neue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