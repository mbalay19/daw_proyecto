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0116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1C1C1E"/>
                </a:solidFill>
                <a:latin typeface="Helvetica Neue"/>
              </a:rPr>
              <a:t>MindTracker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2004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E6E73"/>
                </a:solidFill>
                <a:latin typeface="Helvetica Neue"/>
              </a:rPr>
              <a:t>Aplicación web de seguimiento emocional y hábitos diarios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977639"/>
            <a:ext cx="5486400" cy="9144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06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E6E73"/>
                </a:solidFill>
                <a:latin typeface="Helvetica Neue"/>
              </a:rPr>
              <a:t>Proyecto Integrado  ·  DAW 2º Curso  ·  2025-2026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0" y="5303520"/>
            <a:ext cx="164592" cy="164592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41280" y="5303520"/>
            <a:ext cx="164592" cy="164592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07040" y="5303520"/>
            <a:ext cx="164592" cy="164592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114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C1E"/>
                </a:solidFill>
                <a:latin typeface="Helvetica Neue"/>
              </a:rPr>
              <a:t>Contenido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143000"/>
            <a:ext cx="978408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6E49"/>
                </a:solidFill>
                <a:latin typeface="Helvetica Neu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E"/>
                </a:solidFill>
                <a:latin typeface="Helvetica Neue"/>
              </a:rPr>
              <a:t>Motivación y 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6E49"/>
                </a:solidFill>
                <a:latin typeface="Helvetica Neue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4884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E"/>
                </a:solidFill>
                <a:latin typeface="Helvetica Neue"/>
              </a:rPr>
              <a:t>Objetivos del proyecto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6E49"/>
                </a:solidFill>
                <a:latin typeface="Helvetica Neue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92608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E"/>
                </a:solidFill>
                <a:latin typeface="Helvetica Neue"/>
              </a:rPr>
              <a:t>Stack tecnológico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6E49"/>
                </a:solidFill>
                <a:latin typeface="Helvetica Neue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70332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E"/>
                </a:solidFill>
                <a:latin typeface="Helvetica Neue"/>
              </a:rPr>
              <a:t>Arquitectura del sistema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6E49"/>
                </a:solidFill>
                <a:latin typeface="Helvetica Neue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E"/>
                </a:solidFill>
                <a:latin typeface="Helvetica Neue"/>
              </a:rPr>
              <a:t>Base de datos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2578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6E49"/>
                </a:solidFill>
                <a:latin typeface="Helvetica Neue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52578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E"/>
                </a:solidFill>
                <a:latin typeface="Helvetica Neue"/>
              </a:rPr>
              <a:t>Backend · API REST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3716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6E49"/>
                </a:solidFill>
                <a:latin typeface="Helvetica Neue"/>
              </a:rP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13716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E"/>
                </a:solidFill>
                <a:latin typeface="Helvetica Neue"/>
              </a:rPr>
              <a:t>Frontend · React SPA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6E49"/>
                </a:solidFill>
                <a:latin typeface="Helvetica Neue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14884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E"/>
                </a:solidFill>
                <a:latin typeface="Helvetica Neue"/>
              </a:rPr>
              <a:t>Funcionalidades clave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260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6E49"/>
                </a:solidFill>
                <a:latin typeface="Helvetica Neue"/>
              </a:rPr>
              <a:t>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292608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E"/>
                </a:solidFill>
                <a:latin typeface="Helvetica Neue"/>
              </a:rPr>
              <a:t>Seguridad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6E49"/>
                </a:solidFill>
                <a:latin typeface="Helvetica Neue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370332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E"/>
                </a:solidFill>
                <a:latin typeface="Helvetica Neue"/>
              </a:rPr>
              <a:t>Despliegue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4805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6E49"/>
                </a:solidFill>
                <a:latin typeface="Helvetica Neue"/>
              </a:rP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E"/>
                </a:solidFill>
                <a:latin typeface="Helvetica Neue"/>
              </a:rPr>
              <a:t>Pruebas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2578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6E49"/>
                </a:solidFill>
                <a:latin typeface="Helvetica Neue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52578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E"/>
                </a:solidFill>
                <a:latin typeface="Helvetica Neue"/>
              </a:rPr>
              <a:t>Conclusiones y trabajo futuro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114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C1E"/>
                </a:solidFill>
                <a:latin typeface="Helvetica Neue"/>
              </a:rPr>
              <a:t>01  Motivación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143000"/>
            <a:ext cx="978408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C1C1E"/>
                </a:solidFill>
                <a:latin typeface="Helvetica Neue"/>
              </a:rPr>
              <a:t>El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E"/>
                </a:solidFill>
                <a:latin typeface="Helvetica Neue"/>
              </a:rPr>
              <a:t>Las apps comerciales de bienestar (Daylio, Bearable…) exigen suscripciones de pago, almacenan datos personales sensibles en la nube de terceros y limitan la personalización del usuario. No existe una alternativa libre, autohospedada y de código abierto con una experiencia de usuario comparable.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C1C1E"/>
                </a:solidFill>
                <a:latin typeface="Helvetica Neue"/>
              </a:rPr>
              <a:t>La oportunidad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8862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E"/>
                </a:solidFill>
                <a:latin typeface="Helvetica Neue"/>
              </a:rPr>
              <a:t>Construir una herramienta propia que devolviese el control de los datos al usuario, utilizando tecnologías del currículo DAW — Node.js, React, MariaDB y Apache — en un entorno de despliegue real sobre Ubuntu 22.04.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5303520"/>
            <a:ext cx="73152" cy="82296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534924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E6E73"/>
                </a:solidFill>
                <a:latin typeface="Helvetica Neue"/>
              </a:rPr>
              <a:t>«Cada persona debería ser dueña de sus propios datos de bienestar.»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114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C1E"/>
                </a:solidFill>
                <a:latin typeface="Helvetica Neue"/>
              </a:rPr>
              <a:t>02  Objetivos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143000"/>
            <a:ext cx="978408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6E49"/>
                </a:solidFill>
                <a:latin typeface="Helvetica Neue"/>
              </a:rPr>
              <a:t>Objetivo general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1E"/>
                </a:solidFill>
                <a:latin typeface="Helvetica Neue"/>
              </a:rPr>
              <a:t>Desarrollar una aplicación web full-stack funcional, segura y desplegable en producción para el registro y seguimiento de estados emocionales y hábitos diarios.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2606040"/>
            <a:ext cx="978408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E"/>
                </a:solidFill>
                <a:latin typeface="Helvetica Neue"/>
              </a:rPr>
              <a:t>Objetivos específicos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3310128"/>
            <a:ext cx="109728" cy="109728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3200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Implementar autenticación segura con JWT en cookies HttpOnly y contraseñas hasheadas con bcrypt.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877056"/>
            <a:ext cx="109728" cy="109728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76732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Diseñar e implementar una API REST completa con Express.js sobre una base de datos MariaDB normalizada.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4443984"/>
            <a:ext cx="109728" cy="109728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433425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Desarrollar una SPA con React 18 que ofrezca una UX fluida con registro de estado de ánimo y hábitos.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5010912"/>
            <a:ext cx="109728" cy="109728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4901183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Desplegar el sistema completo en Ubuntu 22.04 con Apache como proxy inverso y SSL/TLS.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5577840"/>
            <a:ext cx="109728" cy="109728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546811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Cubrir los 5 módulos del ciclo (Servidor, Cliente, BBDD, Despliegue, Sistemas) en un proyecto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114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C1E"/>
                </a:solidFill>
                <a:latin typeface="Helvetica Neue"/>
              </a:rPr>
              <a:t>03  Stack tecnológico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143000"/>
            <a:ext cx="978408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463040"/>
            <a:ext cx="5029200" cy="219456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463040"/>
            <a:ext cx="5029200" cy="54864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600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E"/>
                </a:solidFill>
                <a:latin typeface="Helvetica Neue"/>
              </a:rPr>
              <a:t>Frontend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148840"/>
            <a:ext cx="64008" cy="64008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10312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React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2496312"/>
            <a:ext cx="64008" cy="64008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450591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React Router v6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843784"/>
            <a:ext cx="64008" cy="64008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2798063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Vite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3191256"/>
            <a:ext cx="64008" cy="64008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145536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CSS + FontAwesome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463040"/>
            <a:ext cx="5029200" cy="219456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92240" y="1463040"/>
            <a:ext cx="5029200" cy="54864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1600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E"/>
                </a:solidFill>
                <a:latin typeface="Helvetica Neue"/>
              </a:rPr>
              <a:t>Backend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2148840"/>
            <a:ext cx="64008" cy="64008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10312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Node.js 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0" y="2496312"/>
            <a:ext cx="64008" cy="64008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2450591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Express.js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2843784"/>
            <a:ext cx="64008" cy="64008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798063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JWT (jsonwebtoken)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3191256"/>
            <a:ext cx="64008" cy="64008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3145536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bcrypt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4023360"/>
            <a:ext cx="5029200" cy="219456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5840" y="4023360"/>
            <a:ext cx="5029200" cy="54864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1605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E"/>
                </a:solidFill>
                <a:latin typeface="Helvetica Neue"/>
              </a:rPr>
              <a:t>Base de datos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88720" y="4709160"/>
            <a:ext cx="64008" cy="64008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66344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MariaDB 10.6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720" y="5056632"/>
            <a:ext cx="64008" cy="64008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0" y="5010912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mysql2 connector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88720" y="5404104"/>
            <a:ext cx="64008" cy="64008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71600" y="5358384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Pool de conexiones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92240" y="4023360"/>
            <a:ext cx="5029200" cy="219456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92240" y="4023360"/>
            <a:ext cx="5029200" cy="54864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41605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E"/>
                </a:solidFill>
                <a:latin typeface="Helvetica Neue"/>
              </a:rPr>
              <a:t>Infraestructura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75120" y="4709160"/>
            <a:ext cx="64008" cy="64008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0" y="466344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Apache 2.4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5056632"/>
            <a:ext cx="64008" cy="64008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5010912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Ubuntu 22.04 (WSL2)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75120" y="5404104"/>
            <a:ext cx="64008" cy="64008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0" y="5358384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mod_ssl / HTTPS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5120" y="5751576"/>
            <a:ext cx="64008" cy="64008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0" y="5705856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1E"/>
                </a:solidFill>
                <a:latin typeface="Helvetica Neue"/>
              </a:rPr>
              <a:t>systemd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114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C1E"/>
                </a:solidFill>
                <a:latin typeface="Helvetica Neue"/>
              </a:rPr>
              <a:t>04  Arquitectura del sistema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143000"/>
            <a:ext cx="978408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508760"/>
            <a:ext cx="10058400" cy="9144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58191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Capa de Presentación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659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  <a:latin typeface="Helvetica Neue"/>
              </a:rPr>
              <a:t>React SPA · client-side routing · componentes reutilizables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423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E6E73"/>
                </a:solidFill>
                <a:latin typeface="Helvetica Neue"/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697480"/>
            <a:ext cx="10058400" cy="914400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770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Proxy Inverso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15468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  <a:latin typeface="Helvetica Neue"/>
              </a:rPr>
              <a:t>Apache 2.4 · rutas /api/* → Node.js · archivos estáticos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3611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E6E73"/>
                </a:solidFill>
                <a:latin typeface="Helvetica Neue"/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886200"/>
            <a:ext cx="10058400" cy="914400"/>
          </a:xfrm>
          <a:prstGeom prst="rect">
            <a:avLst/>
          </a:prstGeom>
          <a:solidFill>
            <a:srgbClr val="74B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9593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Capa de Aplicación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34340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  <a:latin typeface="Helvetica Neue"/>
              </a:rPr>
              <a:t>Express.js API · MVC · Middleware JWT · CORS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4800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E6E73"/>
                </a:solidFill>
                <a:latin typeface="Helvetica Neue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5074920"/>
            <a:ext cx="10058400" cy="914400"/>
          </a:xfrm>
          <a:prstGeom prst="rect">
            <a:avLst/>
          </a:prstGeom>
          <a:solidFill>
            <a:srgbClr val="A2C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148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Capa de Persistencia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5321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  <a:latin typeface="Helvetica Neue"/>
              </a:rPr>
              <a:t>MariaDB · 5 tablas normalizadas · foreign keys · connection pool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114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C1E"/>
                </a:solidFill>
                <a:latin typeface="Helvetica Neue"/>
              </a:rPr>
              <a:t>05  Base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143000"/>
            <a:ext cx="978408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417320"/>
            <a:ext cx="2011680" cy="43891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 Neue"/>
              </a:rPr>
              <a:t>users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1856232"/>
            <a:ext cx="2011680" cy="4572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2938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id (PK)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313432"/>
            <a:ext cx="2011680" cy="45720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8658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name, last_name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770632"/>
            <a:ext cx="2011680" cy="4572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84378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email (UNIQUE)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227832"/>
            <a:ext cx="2011680" cy="45720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30098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phone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685032"/>
            <a:ext cx="2011680" cy="4572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75818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password (bcrypt)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1417320"/>
            <a:ext cx="2011680" cy="43891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146304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 Neue"/>
              </a:rPr>
              <a:t>moods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1856232"/>
            <a:ext cx="2011680" cy="4572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192938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id (PK)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0" y="2313432"/>
            <a:ext cx="2011680" cy="45720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0" y="238658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user_id (FK→users)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2770632"/>
            <a:ext cx="2011680" cy="4572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284378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value 1-10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3227832"/>
            <a:ext cx="2011680" cy="45720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330098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notes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3685032"/>
            <a:ext cx="2011680" cy="4572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375818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date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0" y="1417320"/>
            <a:ext cx="2011680" cy="43891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79" y="146304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 Neue"/>
              </a:rPr>
              <a:t>habits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1856232"/>
            <a:ext cx="2011680" cy="4572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12079" y="192938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id (PK)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313432"/>
            <a:ext cx="2011680" cy="45720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79" y="238658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name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20640" y="2770632"/>
            <a:ext cx="2011680" cy="4572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79" y="284378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icon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78040" y="1417320"/>
            <a:ext cx="2286000" cy="43891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69479" y="14630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 Neue"/>
              </a:rPr>
              <a:t>habit_options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78040" y="1856232"/>
            <a:ext cx="2286000" cy="4572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69479" y="192938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id (PK)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78040" y="2313432"/>
            <a:ext cx="2286000" cy="45720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69479" y="238658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habit_id (FK)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78040" y="2770632"/>
            <a:ext cx="2286000" cy="4572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69479" y="284378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label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78040" y="3227832"/>
            <a:ext cx="2286000" cy="45720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69479" y="330098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sort_order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760" y="1417320"/>
            <a:ext cx="3108960" cy="43891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0" y="146304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 Neue"/>
              </a:rPr>
              <a:t>habit_logs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509760" y="1856232"/>
            <a:ext cx="3108960" cy="4572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0" y="192938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id (PK)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509760" y="2313432"/>
            <a:ext cx="3108960" cy="45720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01200" y="238658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user_id (FK)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09760" y="2770632"/>
            <a:ext cx="3108960" cy="4572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01200" y="284378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habit_id (FK)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509760" y="3227832"/>
            <a:ext cx="3108960" cy="45720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01200" y="330098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option_id (FK)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9760" y="3685032"/>
            <a:ext cx="3108960" cy="4572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01200" y="375818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C1E"/>
                </a:solidFill>
                <a:latin typeface="Helvetica Neue"/>
              </a:rPr>
              <a:t>date · UNIQUE(user,habit,date)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E6E73"/>
                </a:solidFill>
                <a:latin typeface="Helvetica Neue"/>
              </a:rPr>
              <a:t>Restricciones: FK con ON DELETE CASCADE · UNIQUE(user_id, habit_id, date) en habit_logs · email UNIQUE en users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114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C1E"/>
                </a:solidFill>
                <a:latin typeface="Helvetica Neue"/>
              </a:rPr>
              <a:t>06  Backend · API REST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143000"/>
            <a:ext cx="978408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E"/>
                </a:solidFill>
                <a:latin typeface="Helvetica Neue"/>
              </a:rPr>
              <a:t>Endpoints principales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5D8E"/>
                </a:solidFill>
                <a:latin typeface="Helvetica Neue"/>
              </a:rPr>
              <a:t>POST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82880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C1E"/>
                </a:solidFill>
                <a:latin typeface="Helvetica Neue"/>
              </a:rPr>
              <a:t>/auth/register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8288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6E73"/>
                </a:solidFill>
                <a:latin typeface="Helvetica Neue"/>
              </a:rPr>
              <a:t>Registro de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5D8E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22199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C1E"/>
                </a:solidFill>
                <a:latin typeface="Helvetica Neue"/>
              </a:rPr>
              <a:t>/auth/login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2219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6E73"/>
                </a:solidFill>
                <a:latin typeface="Helvetica Neue"/>
              </a:rPr>
              <a:t>Login · emite JWT en cookie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615184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5D8E"/>
                </a:solidFill>
                <a:latin typeface="Helvetica Neue"/>
              </a:rPr>
              <a:t>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61518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C1E"/>
                </a:solidFill>
                <a:latin typeface="Helvetica Neue"/>
              </a:rPr>
              <a:t>/auth/logout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1518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6E73"/>
                </a:solidFill>
                <a:latin typeface="Helvetica Neue"/>
              </a:rPr>
              <a:t>Logout · limpia cookie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008376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C6E49"/>
                </a:solidFill>
                <a:latin typeface="Helvetica Neue"/>
              </a:rPr>
              <a:t>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00837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C1E"/>
                </a:solidFill>
                <a:latin typeface="Helvetica Neue"/>
              </a:rPr>
              <a:t>/api/me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00837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6E73"/>
                </a:solidFill>
                <a:latin typeface="Helvetica Neue"/>
              </a:rPr>
              <a:t>Usuario autenticado actual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40156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5D8E"/>
                </a:solidFill>
                <a:latin typeface="Helvetica Neue"/>
              </a:rPr>
              <a:t>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40156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C1E"/>
                </a:solidFill>
                <a:latin typeface="Helvetica Neue"/>
              </a:rPr>
              <a:t>/api/users/moods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4015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6E73"/>
                </a:solidFill>
                <a:latin typeface="Helvetica Neue"/>
              </a:rPr>
              <a:t>Crear entrada de estado de ánimo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79476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C6E49"/>
                </a:solidFill>
                <a:latin typeface="Helvetica Neue"/>
              </a:rPr>
              <a:t>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7947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C1E"/>
                </a:solidFill>
                <a:latin typeface="Helvetica Neue"/>
              </a:rPr>
              <a:t>/api/users/logs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7947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6E73"/>
                </a:solidFill>
                <a:latin typeface="Helvetica Neue"/>
              </a:rPr>
              <a:t>Historial de ánimo + hábitos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87952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6E1A"/>
                </a:solidFill>
                <a:latin typeface="Helvetica Neue"/>
              </a:rPr>
              <a:t>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418795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C1E"/>
                </a:solidFill>
                <a:latin typeface="Helvetica Neue"/>
              </a:rPr>
              <a:t>/api/users/moods/:id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418795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6E73"/>
                </a:solidFill>
                <a:latin typeface="Helvetica Neue"/>
              </a:rPr>
              <a:t>Actualizar entrada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581144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E2727"/>
                </a:solidFill>
                <a:latin typeface="Helvetica Neue"/>
              </a:rPr>
              <a:t>DELETE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458114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C1E"/>
                </a:solidFill>
                <a:latin typeface="Helvetica Neue"/>
              </a:rPr>
              <a:t>/api/users/moods/:id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45811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6E73"/>
                </a:solidFill>
                <a:latin typeface="Helvetica Neue"/>
              </a:rPr>
              <a:t>Eliminar entrada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974336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C6E49"/>
                </a:solidFill>
                <a:latin typeface="Helvetica Neue"/>
              </a:rPr>
              <a:t>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497433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C1E"/>
                </a:solidFill>
                <a:latin typeface="Helvetica Neue"/>
              </a:rPr>
              <a:t>/api/habits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497433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6E73"/>
                </a:solidFill>
                <a:latin typeface="Helvetica Neue"/>
              </a:rPr>
              <a:t>Catálogo de hábitos con opciones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36752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5D8E"/>
                </a:solidFill>
                <a:latin typeface="Helvetica Neue"/>
              </a:rPr>
              <a:t>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83080" y="536752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C1E"/>
                </a:solidFill>
                <a:latin typeface="Helvetica Neue"/>
              </a:rPr>
              <a:t>/api/habits/logs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53675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6E73"/>
                </a:solidFill>
                <a:latin typeface="Helvetica Neue"/>
              </a:rPr>
              <a:t>Registrar hábito (upsert)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76072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C6E49"/>
                </a:solidFill>
                <a:latin typeface="Helvetica Neue"/>
              </a:rPr>
              <a:t>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83080" y="576072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C1E"/>
                </a:solidFill>
                <a:latin typeface="Helvetica Neue"/>
              </a:rPr>
              <a:t>/api/habits/logs/date/:d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576072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6E73"/>
                </a:solidFill>
                <a:latin typeface="Helvetica Neue"/>
              </a:rPr>
              <a:t>Hábitos de una fecha específica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E"/>
                </a:solidFill>
                <a:latin typeface="Helvetica Neue"/>
              </a:rPr>
              <a:t>Patrón MVC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0" y="1828800"/>
            <a:ext cx="3840480" cy="86868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0" y="1828800"/>
            <a:ext cx="73152" cy="86868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79" y="1874519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C1E"/>
                </a:solidFill>
                <a:latin typeface="Helvetica Neue"/>
              </a:rPr>
              <a:t>Routes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79" y="224942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E6E73"/>
                </a:solidFill>
                <a:latin typeface="Helvetica Neue"/>
              </a:rPr>
              <a:t>Definición de endpoints y vinculación con controladores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2834640"/>
            <a:ext cx="3840480" cy="86868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0" y="2834640"/>
            <a:ext cx="73152" cy="86868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5279" y="28803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C1E"/>
                </a:solidFill>
                <a:latin typeface="Helvetica Neue"/>
              </a:rPr>
              <a:t>Controllers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325526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E6E73"/>
                </a:solidFill>
                <a:latin typeface="Helvetica Neue"/>
              </a:rPr>
              <a:t>Lógica de negocio, validaciones, respuesta HTTP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0" y="3840480"/>
            <a:ext cx="3840480" cy="86868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0" y="3840480"/>
            <a:ext cx="73152" cy="86868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5279" y="38862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C1E"/>
                </a:solidFill>
                <a:latin typeface="Helvetica Neue"/>
              </a:rPr>
              <a:t>Models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26110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E6E73"/>
                </a:solidFill>
                <a:latin typeface="Helvetica Neue"/>
              </a:rPr>
              <a:t>Queries parametrizadas a MariaDB · pool de conexiones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0" y="4846320"/>
            <a:ext cx="3840480" cy="86868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0" y="4846320"/>
            <a:ext cx="73152" cy="86868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79" y="4892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C1E"/>
                </a:solidFill>
                <a:latin typeface="Helvetica Neue"/>
              </a:rPr>
              <a:t>Middleware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55279" y="526694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E6E73"/>
                </a:solidFill>
                <a:latin typeface="Helvetica Neue"/>
              </a:rPr>
              <a:t>Verificación JWT · protección de rutas privadas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114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C1E"/>
                </a:solidFill>
                <a:latin typeface="Helvetica Neue"/>
              </a:rPr>
              <a:t>07  Frontend · React SPA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143000"/>
            <a:ext cx="978408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E"/>
                </a:solidFill>
                <a:latin typeface="Helvetica Neue"/>
              </a:rPr>
              <a:t>Árbol de componentes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1C1E"/>
                </a:solidFill>
                <a:latin typeface="Helvetica Neue"/>
              </a:rPr>
              <a:t>App.jsx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178308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6E73"/>
                </a:solidFill>
                <a:latin typeface="Helvetica Neue"/>
              </a:rPr>
              <a:t>Routing principal · ProtectedRoute / PublicRoute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04288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1D1"/>
                </a:solidFill>
                <a:latin typeface="Helvetica Neue"/>
              </a:rPr>
              <a:t>└─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0428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1C1E"/>
                </a:solidFill>
                <a:latin typeface="Helvetica Neue"/>
              </a:rPr>
              <a:t>Login.jsx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30428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6E73"/>
                </a:solidFill>
                <a:latin typeface="Helvetica Neue"/>
              </a:rPr>
              <a:t>Formularios de acceso y registro con validación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825496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1D1"/>
                </a:solidFill>
                <a:latin typeface="Helvetica Neue"/>
              </a:rPr>
              <a:t>└─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82549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1C1E"/>
                </a:solidFill>
                <a:latin typeface="Helvetica Neue"/>
              </a:rPr>
              <a:t>Dashboard.jsx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825496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6E73"/>
                </a:solidFill>
                <a:latin typeface="Helvetica Neue"/>
              </a:rPr>
              <a:t>Shell principal con AppHeader y vistas dinámicas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3346704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1D1"/>
                </a:solidFill>
                <a:latin typeface="Helvetica Neue"/>
              </a:rPr>
              <a:t>└─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346704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EntradaView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346704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6E73"/>
                </a:solidFill>
                <a:latin typeface="Helvetica Neue"/>
              </a:rPr>
              <a:t>Formulario de estado de ánimo + panel de hábitos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2808" y="3867911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1D1"/>
                </a:solidFill>
                <a:latin typeface="Helvetica Neue"/>
              </a:rPr>
              <a:t>└─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3867911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MoodForm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867911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6E73"/>
                </a:solidFill>
                <a:latin typeface="Helvetica Neue"/>
              </a:rPr>
              <a:t>Grid 1–10 · notas · selector de fecha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2808" y="4389120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1D1"/>
                </a:solidFill>
                <a:latin typeface="Helvetica Neue"/>
              </a:rPr>
              <a:t>└─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43891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HabitsPanel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38912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6E73"/>
                </a:solidFill>
                <a:latin typeface="Helvetica Neue"/>
              </a:rPr>
              <a:t>5 hábitos · opciones dinámicas · guardado inmediato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910328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1D1"/>
                </a:solidFill>
                <a:latin typeface="Helvetica Neue"/>
              </a:rPr>
              <a:t>└─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91032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RegistrosView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91032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6E73"/>
                </a:solidFill>
                <a:latin typeface="Helvetica Neue"/>
              </a:rPr>
              <a:t>Historial cronológico · eliminación · tags de hábitos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5431536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1D1"/>
                </a:solidFill>
                <a:latin typeface="Helvetica Neue"/>
              </a:rPr>
              <a:t>└─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43153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PerfilView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5431536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6E73"/>
                </a:solidFill>
                <a:latin typeface="Helvetica Neue"/>
              </a:rPr>
              <a:t>Edición de perfil · cambio de contraseña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5943600"/>
            <a:ext cx="978408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989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E6E73"/>
                </a:solidFill>
                <a:latin typeface="Helvetica Neue"/>
              </a:rPr>
              <a:t>Decisiones de diseño:  SPA con React Router · Estado local (useState/useEffect) · Fetch API con credentials · Rutas protegidas por cookie HttpOnly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114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C1E"/>
                </a:solidFill>
                <a:latin typeface="Helvetica Neue"/>
              </a:rPr>
              <a:t>08  Funcionalidades clave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143000"/>
            <a:ext cx="978408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463040"/>
            <a:ext cx="3566160" cy="493776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463040"/>
            <a:ext cx="3566160" cy="54864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5727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E"/>
                </a:solidFill>
                <a:latin typeface="Helvetica Neue"/>
              </a:rPr>
              <a:t>Estado de ánimo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103120"/>
            <a:ext cx="320040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20" y="2377440"/>
            <a:ext cx="91440" cy="91440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2286000"/>
            <a:ext cx="3017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E"/>
                </a:solidFill>
                <a:latin typeface="Helvetica Neue"/>
              </a:rPr>
              <a:t>Escala 1-10 como grid de botones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337560"/>
            <a:ext cx="91440" cy="91440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9888" y="3246120"/>
            <a:ext cx="3017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E"/>
                </a:solidFill>
                <a:latin typeface="Helvetica Neue"/>
              </a:rPr>
              <a:t>Notas de texto libre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4297679"/>
            <a:ext cx="91440" cy="91440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9888" y="4206240"/>
            <a:ext cx="3017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E"/>
                </a:solidFill>
                <a:latin typeface="Helvetica Neue"/>
              </a:rPr>
              <a:t>Selector de fecha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5257800"/>
            <a:ext cx="91440" cy="91440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9888" y="5166360"/>
            <a:ext cx="3017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E"/>
                </a:solidFill>
                <a:latin typeface="Helvetica Neue"/>
              </a:rPr>
              <a:t>CRUD completo sobre cada entrada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79" y="1463040"/>
            <a:ext cx="3566160" cy="493776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54879" y="1463040"/>
            <a:ext cx="3566160" cy="54864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59" y="15727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E"/>
                </a:solidFill>
                <a:latin typeface="Helvetica Neue"/>
              </a:rPr>
              <a:t>Seguimiento de hábitos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59" y="2103120"/>
            <a:ext cx="320040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37759" y="2377440"/>
            <a:ext cx="91440" cy="91440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7" y="2286000"/>
            <a:ext cx="3017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E"/>
                </a:solidFill>
                <a:latin typeface="Helvetica Neue"/>
              </a:rPr>
              <a:t>5 hábitos predefinidos (sueño, ejercicio,
lectura, estudio, dieta)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59" y="3337560"/>
            <a:ext cx="91440" cy="91440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8927" y="3246120"/>
            <a:ext cx="3017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E"/>
                </a:solidFill>
                <a:latin typeface="Helvetica Neue"/>
              </a:rPr>
              <a:t>Opciones múltiples por hábito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59" y="4297679"/>
            <a:ext cx="91440" cy="91440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38927" y="4206240"/>
            <a:ext cx="3017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E"/>
                </a:solidFill>
                <a:latin typeface="Helvetica Neue"/>
              </a:rPr>
              <a:t>Guardado inmediato (sin botón extra)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37759" y="5257800"/>
            <a:ext cx="91440" cy="91440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8927" y="5166360"/>
            <a:ext cx="3017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E"/>
                </a:solidFill>
                <a:latin typeface="Helvetica Neue"/>
              </a:rPr>
              <a:t>Upsert: un registro por hábito/día/usuario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03919" y="1463040"/>
            <a:ext cx="3566160" cy="493776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3919" y="1463040"/>
            <a:ext cx="3566160" cy="54864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799" y="15727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E"/>
                </a:solidFill>
                <a:latin typeface="Helvetica Neue"/>
              </a:rPr>
              <a:t>Historial y perfil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799" y="2103120"/>
            <a:ext cx="320040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86799" y="2377440"/>
            <a:ext cx="91440" cy="91440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87967" y="2286000"/>
            <a:ext cx="3017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E"/>
                </a:solidFill>
                <a:latin typeface="Helvetica Neue"/>
              </a:rPr>
              <a:t>Vista cronológica con tags de hábitos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799" y="3337560"/>
            <a:ext cx="91440" cy="91440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87967" y="3246120"/>
            <a:ext cx="3017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E"/>
                </a:solidFill>
                <a:latin typeface="Helvetica Neue"/>
              </a:rPr>
              <a:t>Eliminación de entradas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799" y="4297679"/>
            <a:ext cx="91440" cy="91440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87967" y="4206240"/>
            <a:ext cx="3017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E"/>
                </a:solidFill>
                <a:latin typeface="Helvetica Neue"/>
              </a:rPr>
              <a:t>Edición de nombre, apellidos y teléfono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799" y="5257800"/>
            <a:ext cx="91440" cy="91440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87967" y="5166360"/>
            <a:ext cx="3017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E"/>
                </a:solidFill>
                <a:latin typeface="Helvetica Neue"/>
              </a:rPr>
              <a:t>Cambio de contraseña con verificación actual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114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C1E"/>
                </a:solidFill>
                <a:latin typeface="Helvetica Neue"/>
              </a:rPr>
              <a:t>09  Seguridad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143000"/>
            <a:ext cx="978408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463040"/>
            <a:ext cx="5120640" cy="13716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463040"/>
            <a:ext cx="73152" cy="13716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C1E"/>
                </a:solidFill>
                <a:latin typeface="Helvetica Neue"/>
              </a:rPr>
              <a:t>JWT en cookies HttpOnly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2011680"/>
            <a:ext cx="4754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E6E73"/>
                </a:solidFill>
                <a:latin typeface="Helvetica Neue"/>
              </a:rPr>
              <a:t>El token no es accesible desde JavaScript, eliminando el riesgo de robo mediante XSS.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463040"/>
            <a:ext cx="5120640" cy="13716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2240" y="1463040"/>
            <a:ext cx="73152" cy="13716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3407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C1E"/>
                </a:solidFill>
                <a:latin typeface="Helvetica Neue"/>
              </a:rPr>
              <a:t>Hashing con bcrypt (10 rounds)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7" y="2011680"/>
            <a:ext cx="4754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E6E73"/>
                </a:solidFill>
                <a:latin typeface="Helvetica Neue"/>
              </a:rPr>
              <a:t>Las contraseñas nunca se almacenan en texto plano. El factor de coste protege contra fuerza bruta.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017520"/>
            <a:ext cx="5120640" cy="13716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5840" y="3017520"/>
            <a:ext cx="73152" cy="13716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8" y="31089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C1E"/>
                </a:solidFill>
                <a:latin typeface="Helvetica Neue"/>
              </a:rPr>
              <a:t>Queries parametrizadas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3566160"/>
            <a:ext cx="4754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E6E73"/>
                </a:solidFill>
                <a:latin typeface="Helvetica Neue"/>
              </a:rPr>
              <a:t>Todas las consultas a MariaDB usan placeholders — inmunidad total a SQL Injection.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3017520"/>
            <a:ext cx="5120640" cy="13716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3017520"/>
            <a:ext cx="73152" cy="13716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3407" y="31089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C1E"/>
                </a:solidFill>
                <a:latin typeface="Helvetica Neue"/>
              </a:rPr>
              <a:t>Cabeceras HTTP de seguridad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3407" y="3566160"/>
            <a:ext cx="4754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E6E73"/>
                </a:solidFill>
                <a:latin typeface="Helvetica Neue"/>
              </a:rPr>
              <a:t>Apache añade X-Frame-Options, X-Content-Type-Options y X-XSS-Protection a todas las respuestas.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572000"/>
            <a:ext cx="5120640" cy="13716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5840" y="4572000"/>
            <a:ext cx="73152" cy="13716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07008" y="46634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C1E"/>
                </a:solidFill>
                <a:latin typeface="Helvetica Neue"/>
              </a:rPr>
              <a:t>CORS restringido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5120640"/>
            <a:ext cx="4754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E6E73"/>
                </a:solidFill>
                <a:latin typeface="Helvetica Neue"/>
              </a:rPr>
              <a:t>El backend solo acepta peticiones del origen configurado, bloqueando CSRF cross-origin.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4572000"/>
            <a:ext cx="5120640" cy="1371600"/>
          </a:xfrm>
          <a:prstGeom prst="rect">
            <a:avLst/>
          </a:prstGeom>
          <a:solidFill>
            <a:srgbClr val="E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4572000"/>
            <a:ext cx="73152" cy="13716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3407" y="46634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C1E"/>
                </a:solidFill>
                <a:latin typeface="Helvetica Neue"/>
              </a:rPr>
              <a:t>SSL/TLS en producción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3407" y="5120640"/>
            <a:ext cx="4754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E6E73"/>
                </a:solidFill>
                <a:latin typeface="Helvetica Neue"/>
              </a:rPr>
              <a:t>Comunicación cifrada end-to-end con certificado servido desde Apache mod_ssl.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114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C1E"/>
                </a:solidFill>
                <a:latin typeface="Helvetica Neue"/>
              </a:rPr>
              <a:t>10  Despliegue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143000"/>
            <a:ext cx="978408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536192"/>
            <a:ext cx="457200" cy="4572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361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53619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C1E"/>
                </a:solidFill>
                <a:latin typeface="Helvetica Neue"/>
              </a:rPr>
              <a:t>Ubuntu 22.04 (WSL2)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9659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E6E73"/>
                </a:solidFill>
                <a:latin typeface="Helvetica Neue"/>
              </a:rPr>
              <a:t>Entorno de servidor real con acceso root y gestión de servicios con systemd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536192"/>
            <a:ext cx="457200" cy="4572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361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53619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C1E"/>
                </a:solidFill>
                <a:latin typeface="Helvetica Neue"/>
              </a:rPr>
              <a:t>MariaDB 10.6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9659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E6E73"/>
                </a:solidFill>
                <a:latin typeface="Helvetica Neue"/>
              </a:rPr>
              <a:t>Base de datos instalada y configurada con usuario dedicado y schema MindTracker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090672"/>
            <a:ext cx="457200" cy="4572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0906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0906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C1E"/>
                </a:solidFill>
                <a:latin typeface="Helvetica Neue"/>
              </a:rPr>
              <a:t>Node.js 20 +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520439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E6E73"/>
                </a:solidFill>
                <a:latin typeface="Helvetica Neue"/>
              </a:rPr>
              <a:t>Servidor Express corriendo como servicio con PM2/systemd en el puerto 2345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3090672"/>
            <a:ext cx="457200" cy="4572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0906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0906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C1E"/>
                </a:solidFill>
                <a:latin typeface="Helvetica Neue"/>
              </a:rPr>
              <a:t>Build React (Vite)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520439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E6E73"/>
                </a:solidFill>
                <a:latin typeface="Helvetica Neue"/>
              </a:rPr>
              <a:t>Compilación del frontend con 'vite build' generando el directorio dist/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645152"/>
            <a:ext cx="457200" cy="4572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645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6451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C1E"/>
                </a:solidFill>
                <a:latin typeface="Helvetica Neue"/>
              </a:rPr>
              <a:t>Apache + SSL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074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E6E73"/>
                </a:solidFill>
                <a:latin typeface="Helvetica Neue"/>
              </a:rPr>
              <a:t>Proxy inverso con VirtualHost: /api/* → Node.js, /* → archivos estáticos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4645152"/>
            <a:ext cx="457200" cy="4572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4645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6451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C1E"/>
                </a:solidFill>
                <a:latin typeface="Helvetica Neue"/>
              </a:rPr>
              <a:t>Variables de entorno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5074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E6E73"/>
                </a:solidFill>
                <a:latin typeface="Helvetica Neue"/>
              </a:rPr>
              <a:t>.env con JWT_SECRET, DB_PASS, ORIGIN — nunca en control de versiones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114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C1E"/>
                </a:solidFill>
                <a:latin typeface="Helvetica Neue"/>
              </a:rPr>
              <a:t>11  Pruebas funcionales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143000"/>
            <a:ext cx="978408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6E49"/>
                </a:solidFill>
                <a:latin typeface="Helvetica Neue"/>
              </a:rPr>
              <a:t>14 casos de prueba documentados · todos superados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6E49"/>
                </a:solidFill>
                <a:latin typeface="Helvetica Neue"/>
              </a:rPr>
              <a:t>CP-01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011680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Registro de nuevo usuario con datos válidos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C6E49"/>
                </a:solidFill>
                <a:latin typeface="Helvetica Neue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6E49"/>
                </a:solidFill>
                <a:latin typeface="Helvetica Neue"/>
              </a:rPr>
              <a:t>CP-02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560320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Registro con email duplicado — error esperado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5603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C6E49"/>
                </a:solidFill>
                <a:latin typeface="Helvetica Neue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08960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6E49"/>
                </a:solidFill>
                <a:latin typeface="Helvetica Neue"/>
              </a:rPr>
              <a:t>CP-03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108960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Login con credenciales correctas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10896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C6E49"/>
                </a:solidFill>
                <a:latin typeface="Helvetica Neue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657600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6E49"/>
                </a:solidFill>
                <a:latin typeface="Helvetica Neue"/>
              </a:rPr>
              <a:t>CP-04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657600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Login con contraseña incorrecta — error esperado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65760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C6E49"/>
                </a:solidFill>
                <a:latin typeface="Helvetica Neue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206240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6E49"/>
                </a:solidFill>
                <a:latin typeface="Helvetica Neue"/>
              </a:rPr>
              <a:t>CP-05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06240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Acceso a ruta protegida sin sesión — redirección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20624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C6E49"/>
                </a:solidFill>
                <a:latin typeface="Helvetica Neue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754880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6E49"/>
                </a:solidFill>
                <a:latin typeface="Helvetica Neue"/>
              </a:rPr>
              <a:t>CP-06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754880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Registro de estado de ánimo en fecha actual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75488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C6E49"/>
                </a:solidFill>
                <a:latin typeface="Helvetica Neue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303520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6E49"/>
                </a:solidFill>
                <a:latin typeface="Helvetica Neue"/>
              </a:rPr>
              <a:t>CP-07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303520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Visualización del historial de ánimo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3035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C6E49"/>
                </a:solidFill>
                <a:latin typeface="Helvetica Neue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011680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6E49"/>
                </a:solidFill>
                <a:latin typeface="Helvetica Neue"/>
              </a:rPr>
              <a:t>CP-08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2011680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Eliminación de una entrada de historial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0" y="201168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C6E49"/>
                </a:solidFill>
                <a:latin typeface="Helvetica Neue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560320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6E49"/>
                </a:solidFill>
                <a:latin typeface="Helvetica Neue"/>
              </a:rPr>
              <a:t>CP-09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2560320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Registro de hábito · guardado inmediato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0" y="25603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C6E49"/>
                </a:solidFill>
                <a:latin typeface="Helvetica Neue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108960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6E49"/>
                </a:solidFill>
                <a:latin typeface="Helvetica Neue"/>
              </a:rPr>
              <a:t>CP-10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3108960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Actualización de hábito ya registrado (upsert)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0" y="310896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C6E49"/>
                </a:solidFill>
                <a:latin typeface="Helvetica Neue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657600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6E49"/>
                </a:solidFill>
                <a:latin typeface="Helvetica Neue"/>
              </a:rPr>
              <a:t>CP-11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657600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Visualización de hábitos del día actual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0" y="365760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C6E49"/>
                </a:solidFill>
                <a:latin typeface="Helvetica Neue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206240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6E49"/>
                </a:solidFill>
                <a:latin typeface="Helvetica Neue"/>
              </a:rPr>
              <a:t>CP-12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4206240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Actualización de datos de perfil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0" y="420624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C6E49"/>
                </a:solidFill>
                <a:latin typeface="Helvetica Neue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754880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6E49"/>
                </a:solidFill>
                <a:latin typeface="Helvetica Neue"/>
              </a:rPr>
              <a:t>CP-13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4754880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Cambio de contraseña con verificación correcta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87200" y="475488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C6E49"/>
                </a:solidFill>
                <a:latin typeface="Helvetica Neue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5303520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6E49"/>
                </a:solidFill>
                <a:latin typeface="Helvetica Neue"/>
              </a:rPr>
              <a:t>CP-14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5303520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E"/>
                </a:solidFill>
                <a:latin typeface="Helvetica Neue"/>
              </a:rPr>
              <a:t>Logout · invalidación de sesión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887200" y="53035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C6E49"/>
                </a:solidFill>
                <a:latin typeface="Helvetica Neue"/>
              </a:rPr>
              <a:t>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114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C1E"/>
                </a:solidFill>
                <a:latin typeface="Helvetica Neue"/>
              </a:rPr>
              <a:t>12  Conclusiones y trabajo futuro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143000"/>
            <a:ext cx="978408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E"/>
                </a:solidFill>
                <a:latin typeface="Helvetica Neue"/>
              </a:rPr>
              <a:t>Logros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874519"/>
            <a:ext cx="91440" cy="9144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17830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E"/>
                </a:solidFill>
                <a:latin typeface="Helvetica Neue"/>
              </a:rPr>
              <a:t>Se ha desarrollado y desplegado con éxito una aplicación web full-stack funcional y segura.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377440"/>
            <a:ext cx="91440" cy="9144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228600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E"/>
                </a:solidFill>
                <a:latin typeface="Helvetica Neue"/>
              </a:rPr>
              <a:t>Los 5 módulos del ciclo DAW quedan integrados de forma coherente en un único proyecto real.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880360"/>
            <a:ext cx="91440" cy="9144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27889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E"/>
                </a:solidFill>
                <a:latin typeface="Helvetica Neue"/>
              </a:rPr>
              <a:t>El sistema implementa las mejores prácticas de seguridad web: JWT, bcrypt, parameterized queries y HTTPS.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383280"/>
            <a:ext cx="91440" cy="9144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329184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E"/>
                </a:solidFill>
                <a:latin typeface="Helvetica Neue"/>
              </a:rPr>
              <a:t>La arquitectura en tres capas facilita el mantenimiento y la escalabilidad futura.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3886200"/>
            <a:ext cx="91440" cy="9144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8" y="379476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E"/>
                </a:solidFill>
                <a:latin typeface="Helvetica Neue"/>
              </a:rPr>
              <a:t>Los 14 casos de prueba validados demuestran la robustez y corrección de todas las funcionalidades.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4480560"/>
            <a:ext cx="9784080" cy="9144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17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E"/>
                </a:solidFill>
                <a:latin typeface="Helvetica Neue"/>
              </a:rPr>
              <a:t>Trabajo futuro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5166359"/>
            <a:ext cx="91440" cy="91440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74920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1C1E"/>
                </a:solidFill>
                <a:latin typeface="Helvetica Neue"/>
              </a:rPr>
              <a:t>Gráficas y tendencias: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5074920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E6E73"/>
                </a:solidFill>
                <a:latin typeface="Helvetica Neue"/>
              </a:rPr>
              <a:t>Visualización de evolución del estado de ánimo con Chart.js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5166359"/>
            <a:ext cx="91440" cy="91440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5074920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1C1E"/>
                </a:solidFill>
                <a:latin typeface="Helvetica Neue"/>
              </a:rPr>
              <a:t>Hábitos personalizables: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5074920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E6E73"/>
                </a:solidFill>
                <a:latin typeface="Helvetica Neue"/>
              </a:rPr>
              <a:t>CRUD de hábitos y opciones definidos por el usuario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5733288"/>
            <a:ext cx="91440" cy="91440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5641848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1C1E"/>
                </a:solidFill>
                <a:latin typeface="Helvetica Neue"/>
              </a:rPr>
              <a:t>Aplicación móvil: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5641848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E6E73"/>
                </a:solidFill>
                <a:latin typeface="Helvetica Neue"/>
              </a:rPr>
              <a:t>PWA o app nativa con React Native para registro rápido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5733288"/>
            <a:ext cx="91440" cy="91440"/>
          </a:xfrm>
          <a:prstGeom prst="rect">
            <a:avLst/>
          </a:prstGeom>
          <a:solidFill>
            <a:srgbClr val="4AA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5641848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1C1E"/>
                </a:solidFill>
                <a:latin typeface="Helvetica Neue"/>
              </a:rPr>
              <a:t>Notificaciones: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5641848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E6E73"/>
                </a:solidFill>
                <a:latin typeface="Helvetica Neue"/>
              </a:rPr>
              <a:t>Recordatorios diarios vía email o push notification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1731752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C1C1E"/>
                </a:solidFill>
                <a:latin typeface="Helvetica Neue"/>
              </a:rPr>
              <a:t>Gracias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291840"/>
            <a:ext cx="5760720" cy="9144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E6E73"/>
                </a:solidFill>
                <a:latin typeface="Helvetica Neue"/>
              </a:rPr>
              <a:t>MindTracker · Proyecto Integrado DAW · 2025-2026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206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C1C1E"/>
                </a:solidFill>
                <a:latin typeface="Helvetica Neue"/>
              </a:rPr>
              <a:t>¿Preguntas?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